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260" r:id="rId5"/>
    <p:sldId id="262" r:id="rId6"/>
    <p:sldId id="263" r:id="rId7"/>
    <p:sldId id="261" r:id="rId8"/>
    <p:sldId id="265" r:id="rId9"/>
    <p:sldId id="2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705DA7-B1AB-41D5-8784-334767C248DC}" v="3" dt="2026-02-26T19:09:55.9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55" autoAdjust="0"/>
    <p:restoredTop sz="94660"/>
  </p:normalViewPr>
  <p:slideViewPr>
    <p:cSldViewPr snapToGrid="0">
      <p:cViewPr varScale="1">
        <p:scale>
          <a:sx n="66" d="100"/>
          <a:sy n="66" d="100"/>
        </p:scale>
        <p:origin x="66"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mina francis" userId="7da9bd2299f8b5ba" providerId="LiveId" clId="{8C150BB2-9218-488B-B012-E3F261622E26}"/>
    <pc:docChg chg="custSel modSld">
      <pc:chgData name="femina francis" userId="7da9bd2299f8b5ba" providerId="LiveId" clId="{8C150BB2-9218-488B-B012-E3F261622E26}" dt="2026-02-26T19:10:53.914" v="56" actId="255"/>
      <pc:docMkLst>
        <pc:docMk/>
      </pc:docMkLst>
      <pc:sldChg chg="modSp mod">
        <pc:chgData name="femina francis" userId="7da9bd2299f8b5ba" providerId="LiveId" clId="{8C150BB2-9218-488B-B012-E3F261622E26}" dt="2026-02-26T19:10:53.914" v="56" actId="255"/>
        <pc:sldMkLst>
          <pc:docMk/>
          <pc:sldMk cId="2480779696" sldId="256"/>
        </pc:sldMkLst>
        <pc:spChg chg="mod">
          <ac:chgData name="femina francis" userId="7da9bd2299f8b5ba" providerId="LiveId" clId="{8C150BB2-9218-488B-B012-E3F261622E26}" dt="2026-02-26T19:10:35.181" v="55" actId="255"/>
          <ac:spMkLst>
            <pc:docMk/>
            <pc:sldMk cId="2480779696" sldId="256"/>
            <ac:spMk id="3" creationId="{9A7CC719-3EBA-2F13-3545-0D032268D093}"/>
          </ac:spMkLst>
        </pc:spChg>
        <pc:spChg chg="mod">
          <ac:chgData name="femina francis" userId="7da9bd2299f8b5ba" providerId="LiveId" clId="{8C150BB2-9218-488B-B012-E3F261622E26}" dt="2026-02-26T19:10:53.914" v="56" actId="255"/>
          <ac:spMkLst>
            <pc:docMk/>
            <pc:sldMk cId="2480779696" sldId="256"/>
            <ac:spMk id="7" creationId="{7D2922C4-9849-4AAD-AEC0-A34994B9E646}"/>
          </ac:spMkLst>
        </pc:spChg>
      </pc:sldChg>
      <pc:sldChg chg="modSp mod">
        <pc:chgData name="femina francis" userId="7da9bd2299f8b5ba" providerId="LiveId" clId="{8C150BB2-9218-488B-B012-E3F261622E26}" dt="2026-02-26T19:08:19.273" v="43" actId="207"/>
        <pc:sldMkLst>
          <pc:docMk/>
          <pc:sldMk cId="1458530994" sldId="257"/>
        </pc:sldMkLst>
        <pc:spChg chg="mod">
          <ac:chgData name="femina francis" userId="7da9bd2299f8b5ba" providerId="LiveId" clId="{8C150BB2-9218-488B-B012-E3F261622E26}" dt="2026-02-26T19:08:19.273" v="43" actId="207"/>
          <ac:spMkLst>
            <pc:docMk/>
            <pc:sldMk cId="1458530994" sldId="257"/>
            <ac:spMk id="2" creationId="{66021AD0-D50F-3617-A8A8-A0C05638DE82}"/>
          </ac:spMkLst>
        </pc:spChg>
        <pc:spChg chg="mod">
          <ac:chgData name="femina francis" userId="7da9bd2299f8b5ba" providerId="LiveId" clId="{8C150BB2-9218-488B-B012-E3F261622E26}" dt="2026-02-26T18:58:32.729" v="0" actId="255"/>
          <ac:spMkLst>
            <pc:docMk/>
            <pc:sldMk cId="1458530994" sldId="257"/>
            <ac:spMk id="3" creationId="{2B94DB36-D46C-37E3-EA7C-74A3F1403444}"/>
          </ac:spMkLst>
        </pc:spChg>
      </pc:sldChg>
      <pc:sldChg chg="modSp mod">
        <pc:chgData name="femina francis" userId="7da9bd2299f8b5ba" providerId="LiveId" clId="{8C150BB2-9218-488B-B012-E3F261622E26}" dt="2026-02-26T19:07:04.372" v="36" actId="207"/>
        <pc:sldMkLst>
          <pc:docMk/>
          <pc:sldMk cId="3802644211" sldId="260"/>
        </pc:sldMkLst>
        <pc:spChg chg="mod">
          <ac:chgData name="femina francis" userId="7da9bd2299f8b5ba" providerId="LiveId" clId="{8C150BB2-9218-488B-B012-E3F261622E26}" dt="2026-02-26T19:07:04.372" v="36" actId="207"/>
          <ac:spMkLst>
            <pc:docMk/>
            <pc:sldMk cId="3802644211" sldId="260"/>
            <ac:spMk id="3" creationId="{510DEA6B-7695-D688-C6EE-6B6ED636B040}"/>
          </ac:spMkLst>
        </pc:spChg>
      </pc:sldChg>
      <pc:sldChg chg="modSp mod">
        <pc:chgData name="femina francis" userId="7da9bd2299f8b5ba" providerId="LiveId" clId="{8C150BB2-9218-488B-B012-E3F261622E26}" dt="2026-02-26T19:07:30.914" v="39" actId="207"/>
        <pc:sldMkLst>
          <pc:docMk/>
          <pc:sldMk cId="3782054135" sldId="261"/>
        </pc:sldMkLst>
        <pc:spChg chg="mod">
          <ac:chgData name="femina francis" userId="7da9bd2299f8b5ba" providerId="LiveId" clId="{8C150BB2-9218-488B-B012-E3F261622E26}" dt="2026-02-26T19:07:30.914" v="39" actId="207"/>
          <ac:spMkLst>
            <pc:docMk/>
            <pc:sldMk cId="3782054135" sldId="261"/>
            <ac:spMk id="3" creationId="{98C7012D-A4B7-1488-C74C-87B031FBE3F0}"/>
          </ac:spMkLst>
        </pc:spChg>
      </pc:sldChg>
      <pc:sldChg chg="modSp mod">
        <pc:chgData name="femina francis" userId="7da9bd2299f8b5ba" providerId="LiveId" clId="{8C150BB2-9218-488B-B012-E3F261622E26}" dt="2026-02-26T19:07:15.547" v="37" actId="207"/>
        <pc:sldMkLst>
          <pc:docMk/>
          <pc:sldMk cId="2740741432" sldId="262"/>
        </pc:sldMkLst>
        <pc:spChg chg="mod">
          <ac:chgData name="femina francis" userId="7da9bd2299f8b5ba" providerId="LiveId" clId="{8C150BB2-9218-488B-B012-E3F261622E26}" dt="2026-02-26T19:07:15.547" v="37" actId="207"/>
          <ac:spMkLst>
            <pc:docMk/>
            <pc:sldMk cId="2740741432" sldId="262"/>
            <ac:spMk id="5" creationId="{DA3D9840-7B41-1FF5-C384-CFCC4E1CD272}"/>
          </ac:spMkLst>
        </pc:spChg>
      </pc:sldChg>
      <pc:sldChg chg="modSp mod">
        <pc:chgData name="femina francis" userId="7da9bd2299f8b5ba" providerId="LiveId" clId="{8C150BB2-9218-488B-B012-E3F261622E26}" dt="2026-02-26T19:07:23.880" v="38" actId="207"/>
        <pc:sldMkLst>
          <pc:docMk/>
          <pc:sldMk cId="1357313119" sldId="263"/>
        </pc:sldMkLst>
        <pc:spChg chg="mod">
          <ac:chgData name="femina francis" userId="7da9bd2299f8b5ba" providerId="LiveId" clId="{8C150BB2-9218-488B-B012-E3F261622E26}" dt="2026-02-26T19:07:23.880" v="38" actId="207"/>
          <ac:spMkLst>
            <pc:docMk/>
            <pc:sldMk cId="1357313119" sldId="263"/>
            <ac:spMk id="3" creationId="{D51B4A5C-E15B-1778-EE13-C39599F8A3D4}"/>
          </ac:spMkLst>
        </pc:spChg>
      </pc:sldChg>
      <pc:sldChg chg="modSp mod">
        <pc:chgData name="femina francis" userId="7da9bd2299f8b5ba" providerId="LiveId" clId="{8C150BB2-9218-488B-B012-E3F261622E26}" dt="2026-02-26T19:07:49.617" v="40" actId="207"/>
        <pc:sldMkLst>
          <pc:docMk/>
          <pc:sldMk cId="2523475991" sldId="265"/>
        </pc:sldMkLst>
        <pc:spChg chg="mod">
          <ac:chgData name="femina francis" userId="7da9bd2299f8b5ba" providerId="LiveId" clId="{8C150BB2-9218-488B-B012-E3F261622E26}" dt="2026-02-26T19:07:49.617" v="40" actId="207"/>
          <ac:spMkLst>
            <pc:docMk/>
            <pc:sldMk cId="2523475991" sldId="265"/>
            <ac:spMk id="3" creationId="{E8EB0242-1D09-500A-3C58-EC39679A6DD7}"/>
          </ac:spMkLst>
        </pc:spChg>
      </pc:sldChg>
      <pc:sldChg chg="modSp mod">
        <pc:chgData name="femina francis" userId="7da9bd2299f8b5ba" providerId="LiveId" clId="{8C150BB2-9218-488B-B012-E3F261622E26}" dt="2026-02-26T19:09:58.817" v="53" actId="115"/>
        <pc:sldMkLst>
          <pc:docMk/>
          <pc:sldMk cId="2840017531" sldId="266"/>
        </pc:sldMkLst>
        <pc:spChg chg="mod">
          <ac:chgData name="femina francis" userId="7da9bd2299f8b5ba" providerId="LiveId" clId="{8C150BB2-9218-488B-B012-E3F261622E26}" dt="2026-02-26T19:09:58.817" v="53" actId="115"/>
          <ac:spMkLst>
            <pc:docMk/>
            <pc:sldMk cId="2840017531" sldId="266"/>
            <ac:spMk id="3" creationId="{ADBD0B60-4EB9-DF6A-D85C-AB3481F5F74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081B4-7C27-CE1B-861A-9D805CC76E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8635AD4-9CE8-1658-3C36-9B05882441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0ED093B-3BE5-D1AB-82B2-9B19F5ED6AA4}"/>
              </a:ext>
            </a:extLst>
          </p:cNvPr>
          <p:cNvSpPr>
            <a:spLocks noGrp="1"/>
          </p:cNvSpPr>
          <p:nvPr>
            <p:ph type="dt" sz="half" idx="10"/>
          </p:nvPr>
        </p:nvSpPr>
        <p:spPr/>
        <p:txBody>
          <a:bodyPr/>
          <a:lstStyle/>
          <a:p>
            <a:fld id="{4E2584E9-94C9-4B1A-9B99-20F065FB882D}" type="datetimeFigureOut">
              <a:rPr lang="en-IN" smtClean="0"/>
              <a:t>27-02-2026</a:t>
            </a:fld>
            <a:endParaRPr lang="en-IN"/>
          </a:p>
        </p:txBody>
      </p:sp>
      <p:sp>
        <p:nvSpPr>
          <p:cNvPr id="5" name="Footer Placeholder 4">
            <a:extLst>
              <a:ext uri="{FF2B5EF4-FFF2-40B4-BE49-F238E27FC236}">
                <a16:creationId xmlns:a16="http://schemas.microsoft.com/office/drawing/2014/main" id="{4F878C74-BF47-291A-842E-8A05FF3CE7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865BB4-5E16-9160-767B-21B4CF2840ED}"/>
              </a:ext>
            </a:extLst>
          </p:cNvPr>
          <p:cNvSpPr>
            <a:spLocks noGrp="1"/>
          </p:cNvSpPr>
          <p:nvPr>
            <p:ph type="sldNum" sz="quarter" idx="12"/>
          </p:nvPr>
        </p:nvSpPr>
        <p:spPr/>
        <p:txBody>
          <a:bodyPr/>
          <a:lstStyle/>
          <a:p>
            <a:fld id="{D4F69179-D2B7-412B-8531-88FBF6C485FF}" type="slidenum">
              <a:rPr lang="en-IN" smtClean="0"/>
              <a:t>‹#›</a:t>
            </a:fld>
            <a:endParaRPr lang="en-IN"/>
          </a:p>
        </p:txBody>
      </p:sp>
    </p:spTree>
    <p:extLst>
      <p:ext uri="{BB962C8B-B14F-4D97-AF65-F5344CB8AC3E}">
        <p14:creationId xmlns:p14="http://schemas.microsoft.com/office/powerpoint/2010/main" val="3878838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2F426-33A7-3BF2-C4A5-3B47BA9DD7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3549A6-79AF-C59A-F8AF-47052186F8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91541D-1397-9573-ADF4-AFD0731CA91E}"/>
              </a:ext>
            </a:extLst>
          </p:cNvPr>
          <p:cNvSpPr>
            <a:spLocks noGrp="1"/>
          </p:cNvSpPr>
          <p:nvPr>
            <p:ph type="dt" sz="half" idx="10"/>
          </p:nvPr>
        </p:nvSpPr>
        <p:spPr/>
        <p:txBody>
          <a:bodyPr/>
          <a:lstStyle/>
          <a:p>
            <a:fld id="{4E2584E9-94C9-4B1A-9B99-20F065FB882D}" type="datetimeFigureOut">
              <a:rPr lang="en-IN" smtClean="0"/>
              <a:t>27-02-2026</a:t>
            </a:fld>
            <a:endParaRPr lang="en-IN"/>
          </a:p>
        </p:txBody>
      </p:sp>
      <p:sp>
        <p:nvSpPr>
          <p:cNvPr id="5" name="Footer Placeholder 4">
            <a:extLst>
              <a:ext uri="{FF2B5EF4-FFF2-40B4-BE49-F238E27FC236}">
                <a16:creationId xmlns:a16="http://schemas.microsoft.com/office/drawing/2014/main" id="{11158325-DF73-6E1A-CE8D-BEF571FBA7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4E9771-B319-BD56-24F8-2617CBEEA524}"/>
              </a:ext>
            </a:extLst>
          </p:cNvPr>
          <p:cNvSpPr>
            <a:spLocks noGrp="1"/>
          </p:cNvSpPr>
          <p:nvPr>
            <p:ph type="sldNum" sz="quarter" idx="12"/>
          </p:nvPr>
        </p:nvSpPr>
        <p:spPr/>
        <p:txBody>
          <a:bodyPr/>
          <a:lstStyle/>
          <a:p>
            <a:fld id="{D4F69179-D2B7-412B-8531-88FBF6C485FF}" type="slidenum">
              <a:rPr lang="en-IN" smtClean="0"/>
              <a:t>‹#›</a:t>
            </a:fld>
            <a:endParaRPr lang="en-IN"/>
          </a:p>
        </p:txBody>
      </p:sp>
    </p:spTree>
    <p:extLst>
      <p:ext uri="{BB962C8B-B14F-4D97-AF65-F5344CB8AC3E}">
        <p14:creationId xmlns:p14="http://schemas.microsoft.com/office/powerpoint/2010/main" val="1857616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BA851-6B5E-8FED-94F5-285EDE8029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A0A214F-BAB6-C364-6E38-1DE02FF599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3F4881-757C-95C2-C7C2-5D4B90A932F5}"/>
              </a:ext>
            </a:extLst>
          </p:cNvPr>
          <p:cNvSpPr>
            <a:spLocks noGrp="1"/>
          </p:cNvSpPr>
          <p:nvPr>
            <p:ph type="dt" sz="half" idx="10"/>
          </p:nvPr>
        </p:nvSpPr>
        <p:spPr/>
        <p:txBody>
          <a:bodyPr/>
          <a:lstStyle/>
          <a:p>
            <a:fld id="{4E2584E9-94C9-4B1A-9B99-20F065FB882D}" type="datetimeFigureOut">
              <a:rPr lang="en-IN" smtClean="0"/>
              <a:t>27-02-2026</a:t>
            </a:fld>
            <a:endParaRPr lang="en-IN"/>
          </a:p>
        </p:txBody>
      </p:sp>
      <p:sp>
        <p:nvSpPr>
          <p:cNvPr id="5" name="Footer Placeholder 4">
            <a:extLst>
              <a:ext uri="{FF2B5EF4-FFF2-40B4-BE49-F238E27FC236}">
                <a16:creationId xmlns:a16="http://schemas.microsoft.com/office/drawing/2014/main" id="{45FCE9B6-CD62-EAD3-55AC-93E80EAC0F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D67BDE-A01E-BD8D-5867-A697AF0F4452}"/>
              </a:ext>
            </a:extLst>
          </p:cNvPr>
          <p:cNvSpPr>
            <a:spLocks noGrp="1"/>
          </p:cNvSpPr>
          <p:nvPr>
            <p:ph type="sldNum" sz="quarter" idx="12"/>
          </p:nvPr>
        </p:nvSpPr>
        <p:spPr/>
        <p:txBody>
          <a:bodyPr/>
          <a:lstStyle/>
          <a:p>
            <a:fld id="{D4F69179-D2B7-412B-8531-88FBF6C485FF}" type="slidenum">
              <a:rPr lang="en-IN" smtClean="0"/>
              <a:t>‹#›</a:t>
            </a:fld>
            <a:endParaRPr lang="en-IN"/>
          </a:p>
        </p:txBody>
      </p:sp>
    </p:spTree>
    <p:extLst>
      <p:ext uri="{BB962C8B-B14F-4D97-AF65-F5344CB8AC3E}">
        <p14:creationId xmlns:p14="http://schemas.microsoft.com/office/powerpoint/2010/main" val="3884341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F02D5-4D88-B2AA-15E9-E38998C0317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BA12982-DED5-5A9A-469B-7587E4B070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05E4E84-C799-BE90-6A7B-8A0EBDE388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76B8566-EE5F-D096-2455-66BB8CB66C7B}"/>
              </a:ext>
            </a:extLst>
          </p:cNvPr>
          <p:cNvSpPr>
            <a:spLocks noGrp="1"/>
          </p:cNvSpPr>
          <p:nvPr>
            <p:ph type="dt" sz="half" idx="10"/>
          </p:nvPr>
        </p:nvSpPr>
        <p:spPr/>
        <p:txBody>
          <a:bodyPr/>
          <a:lstStyle/>
          <a:p>
            <a:fld id="{4E2584E9-94C9-4B1A-9B99-20F065FB882D}" type="datetimeFigureOut">
              <a:rPr lang="en-IN" smtClean="0"/>
              <a:t>27-02-2026</a:t>
            </a:fld>
            <a:endParaRPr lang="en-IN"/>
          </a:p>
        </p:txBody>
      </p:sp>
      <p:sp>
        <p:nvSpPr>
          <p:cNvPr id="6" name="Footer Placeholder 5">
            <a:extLst>
              <a:ext uri="{FF2B5EF4-FFF2-40B4-BE49-F238E27FC236}">
                <a16:creationId xmlns:a16="http://schemas.microsoft.com/office/drawing/2014/main" id="{BB442E9F-F042-390C-B0E9-57902F0594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88D4EAB-3272-1BC3-1700-C74AC528EBB8}"/>
              </a:ext>
            </a:extLst>
          </p:cNvPr>
          <p:cNvSpPr>
            <a:spLocks noGrp="1"/>
          </p:cNvSpPr>
          <p:nvPr>
            <p:ph type="sldNum" sz="quarter" idx="12"/>
          </p:nvPr>
        </p:nvSpPr>
        <p:spPr/>
        <p:txBody>
          <a:bodyPr/>
          <a:lstStyle/>
          <a:p>
            <a:fld id="{D4F69179-D2B7-412B-8531-88FBF6C485FF}" type="slidenum">
              <a:rPr lang="en-IN" smtClean="0"/>
              <a:t>‹#›</a:t>
            </a:fld>
            <a:endParaRPr lang="en-IN"/>
          </a:p>
        </p:txBody>
      </p:sp>
    </p:spTree>
    <p:extLst>
      <p:ext uri="{BB962C8B-B14F-4D97-AF65-F5344CB8AC3E}">
        <p14:creationId xmlns:p14="http://schemas.microsoft.com/office/powerpoint/2010/main" val="3226807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C7576-F020-4164-5E70-92AB7F56F63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E1EAE9-7D81-4F0B-C40B-66B8705E7A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8BA079-F9EC-9B61-1CD2-B47570AFA7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0E60303-9358-82F3-053A-3AADFD6EA9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DBE686-94F1-8DD4-7B8C-CCFC78B9B7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847DA61-4865-3041-86A7-F508049AEBA8}"/>
              </a:ext>
            </a:extLst>
          </p:cNvPr>
          <p:cNvSpPr>
            <a:spLocks noGrp="1"/>
          </p:cNvSpPr>
          <p:nvPr>
            <p:ph type="dt" sz="half" idx="10"/>
          </p:nvPr>
        </p:nvSpPr>
        <p:spPr/>
        <p:txBody>
          <a:bodyPr/>
          <a:lstStyle/>
          <a:p>
            <a:fld id="{4E2584E9-94C9-4B1A-9B99-20F065FB882D}" type="datetimeFigureOut">
              <a:rPr lang="en-IN" smtClean="0"/>
              <a:t>27-02-2026</a:t>
            </a:fld>
            <a:endParaRPr lang="en-IN"/>
          </a:p>
        </p:txBody>
      </p:sp>
      <p:sp>
        <p:nvSpPr>
          <p:cNvPr id="8" name="Footer Placeholder 7">
            <a:extLst>
              <a:ext uri="{FF2B5EF4-FFF2-40B4-BE49-F238E27FC236}">
                <a16:creationId xmlns:a16="http://schemas.microsoft.com/office/drawing/2014/main" id="{3B95694F-E899-2582-8861-8AD84F44FB8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0A46432-5A8E-B864-B9A7-141ECC43D778}"/>
              </a:ext>
            </a:extLst>
          </p:cNvPr>
          <p:cNvSpPr>
            <a:spLocks noGrp="1"/>
          </p:cNvSpPr>
          <p:nvPr>
            <p:ph type="sldNum" sz="quarter" idx="12"/>
          </p:nvPr>
        </p:nvSpPr>
        <p:spPr/>
        <p:txBody>
          <a:bodyPr/>
          <a:lstStyle/>
          <a:p>
            <a:fld id="{D4F69179-D2B7-412B-8531-88FBF6C485FF}" type="slidenum">
              <a:rPr lang="en-IN" smtClean="0"/>
              <a:t>‹#›</a:t>
            </a:fld>
            <a:endParaRPr lang="en-IN"/>
          </a:p>
        </p:txBody>
      </p:sp>
    </p:spTree>
    <p:extLst>
      <p:ext uri="{BB962C8B-B14F-4D97-AF65-F5344CB8AC3E}">
        <p14:creationId xmlns:p14="http://schemas.microsoft.com/office/powerpoint/2010/main" val="2033796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3C7D0-BA8B-121F-D951-8622D816E4C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F94D36C-F98B-2058-28E5-447887825723}"/>
              </a:ext>
            </a:extLst>
          </p:cNvPr>
          <p:cNvSpPr>
            <a:spLocks noGrp="1"/>
          </p:cNvSpPr>
          <p:nvPr>
            <p:ph type="dt" sz="half" idx="10"/>
          </p:nvPr>
        </p:nvSpPr>
        <p:spPr/>
        <p:txBody>
          <a:bodyPr/>
          <a:lstStyle/>
          <a:p>
            <a:fld id="{4E2584E9-94C9-4B1A-9B99-20F065FB882D}" type="datetimeFigureOut">
              <a:rPr lang="en-IN" smtClean="0"/>
              <a:t>27-02-2026</a:t>
            </a:fld>
            <a:endParaRPr lang="en-IN"/>
          </a:p>
        </p:txBody>
      </p:sp>
      <p:sp>
        <p:nvSpPr>
          <p:cNvPr id="4" name="Footer Placeholder 3">
            <a:extLst>
              <a:ext uri="{FF2B5EF4-FFF2-40B4-BE49-F238E27FC236}">
                <a16:creationId xmlns:a16="http://schemas.microsoft.com/office/drawing/2014/main" id="{28A5A64C-26F1-F718-A0CC-1ADE5516BAA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5FFAB4A-9519-A6F4-84D4-380232CDC996}"/>
              </a:ext>
            </a:extLst>
          </p:cNvPr>
          <p:cNvSpPr>
            <a:spLocks noGrp="1"/>
          </p:cNvSpPr>
          <p:nvPr>
            <p:ph type="sldNum" sz="quarter" idx="12"/>
          </p:nvPr>
        </p:nvSpPr>
        <p:spPr/>
        <p:txBody>
          <a:bodyPr/>
          <a:lstStyle/>
          <a:p>
            <a:fld id="{D4F69179-D2B7-412B-8531-88FBF6C485FF}" type="slidenum">
              <a:rPr lang="en-IN" smtClean="0"/>
              <a:t>‹#›</a:t>
            </a:fld>
            <a:endParaRPr lang="en-IN"/>
          </a:p>
        </p:txBody>
      </p:sp>
    </p:spTree>
    <p:extLst>
      <p:ext uri="{BB962C8B-B14F-4D97-AF65-F5344CB8AC3E}">
        <p14:creationId xmlns:p14="http://schemas.microsoft.com/office/powerpoint/2010/main" val="11688282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631EE2-82E3-C7CA-E6A2-FE6385B501CE}"/>
              </a:ext>
            </a:extLst>
          </p:cNvPr>
          <p:cNvSpPr>
            <a:spLocks noGrp="1"/>
          </p:cNvSpPr>
          <p:nvPr>
            <p:ph type="dt" sz="half" idx="10"/>
          </p:nvPr>
        </p:nvSpPr>
        <p:spPr/>
        <p:txBody>
          <a:bodyPr/>
          <a:lstStyle/>
          <a:p>
            <a:fld id="{4E2584E9-94C9-4B1A-9B99-20F065FB882D}" type="datetimeFigureOut">
              <a:rPr lang="en-IN" smtClean="0"/>
              <a:t>27-02-2026</a:t>
            </a:fld>
            <a:endParaRPr lang="en-IN"/>
          </a:p>
        </p:txBody>
      </p:sp>
      <p:sp>
        <p:nvSpPr>
          <p:cNvPr id="3" name="Footer Placeholder 2">
            <a:extLst>
              <a:ext uri="{FF2B5EF4-FFF2-40B4-BE49-F238E27FC236}">
                <a16:creationId xmlns:a16="http://schemas.microsoft.com/office/drawing/2014/main" id="{AFB799B8-DA6A-394E-77B4-0CDAF9D77DA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9451DC1-F4A7-0A79-C562-71EC6C9F5328}"/>
              </a:ext>
            </a:extLst>
          </p:cNvPr>
          <p:cNvSpPr>
            <a:spLocks noGrp="1"/>
          </p:cNvSpPr>
          <p:nvPr>
            <p:ph type="sldNum" sz="quarter" idx="12"/>
          </p:nvPr>
        </p:nvSpPr>
        <p:spPr/>
        <p:txBody>
          <a:bodyPr/>
          <a:lstStyle/>
          <a:p>
            <a:fld id="{D4F69179-D2B7-412B-8531-88FBF6C485FF}" type="slidenum">
              <a:rPr lang="en-IN" smtClean="0"/>
              <a:t>‹#›</a:t>
            </a:fld>
            <a:endParaRPr lang="en-IN"/>
          </a:p>
        </p:txBody>
      </p:sp>
    </p:spTree>
    <p:extLst>
      <p:ext uri="{BB962C8B-B14F-4D97-AF65-F5344CB8AC3E}">
        <p14:creationId xmlns:p14="http://schemas.microsoft.com/office/powerpoint/2010/main" val="1747033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EB455-3B6B-2176-3DEB-029E46DD3D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D3B8DD1-2A1D-E9C2-3F7F-6B194900F9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D1D2E12-5FAC-3F63-8F02-1FABBB4538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227FA7-27AA-57B7-1920-9F8D3A641049}"/>
              </a:ext>
            </a:extLst>
          </p:cNvPr>
          <p:cNvSpPr>
            <a:spLocks noGrp="1"/>
          </p:cNvSpPr>
          <p:nvPr>
            <p:ph type="dt" sz="half" idx="10"/>
          </p:nvPr>
        </p:nvSpPr>
        <p:spPr/>
        <p:txBody>
          <a:bodyPr/>
          <a:lstStyle/>
          <a:p>
            <a:fld id="{4E2584E9-94C9-4B1A-9B99-20F065FB882D}" type="datetimeFigureOut">
              <a:rPr lang="en-IN" smtClean="0"/>
              <a:t>27-02-2026</a:t>
            </a:fld>
            <a:endParaRPr lang="en-IN"/>
          </a:p>
        </p:txBody>
      </p:sp>
      <p:sp>
        <p:nvSpPr>
          <p:cNvPr id="6" name="Footer Placeholder 5">
            <a:extLst>
              <a:ext uri="{FF2B5EF4-FFF2-40B4-BE49-F238E27FC236}">
                <a16:creationId xmlns:a16="http://schemas.microsoft.com/office/drawing/2014/main" id="{B9E27EA4-8078-1056-6D4B-CDC7A25364D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BE7921-0763-E01C-D4C0-30197F95547B}"/>
              </a:ext>
            </a:extLst>
          </p:cNvPr>
          <p:cNvSpPr>
            <a:spLocks noGrp="1"/>
          </p:cNvSpPr>
          <p:nvPr>
            <p:ph type="sldNum" sz="quarter" idx="12"/>
          </p:nvPr>
        </p:nvSpPr>
        <p:spPr/>
        <p:txBody>
          <a:bodyPr/>
          <a:lstStyle/>
          <a:p>
            <a:fld id="{D4F69179-D2B7-412B-8531-88FBF6C485FF}" type="slidenum">
              <a:rPr lang="en-IN" smtClean="0"/>
              <a:t>‹#›</a:t>
            </a:fld>
            <a:endParaRPr lang="en-IN"/>
          </a:p>
        </p:txBody>
      </p:sp>
    </p:spTree>
    <p:extLst>
      <p:ext uri="{BB962C8B-B14F-4D97-AF65-F5344CB8AC3E}">
        <p14:creationId xmlns:p14="http://schemas.microsoft.com/office/powerpoint/2010/main" val="14567110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F1DC4-EF05-5879-BAC3-EC8556E2C7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34B0443-6B7B-57AF-D122-70A95AD9A1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E10FA44-DB79-2097-0268-A326B34577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135647-3A2D-BE01-4D66-BC49F991B447}"/>
              </a:ext>
            </a:extLst>
          </p:cNvPr>
          <p:cNvSpPr>
            <a:spLocks noGrp="1"/>
          </p:cNvSpPr>
          <p:nvPr>
            <p:ph type="dt" sz="half" idx="10"/>
          </p:nvPr>
        </p:nvSpPr>
        <p:spPr/>
        <p:txBody>
          <a:bodyPr/>
          <a:lstStyle/>
          <a:p>
            <a:fld id="{4E2584E9-94C9-4B1A-9B99-20F065FB882D}" type="datetimeFigureOut">
              <a:rPr lang="en-IN" smtClean="0"/>
              <a:t>27-02-2026</a:t>
            </a:fld>
            <a:endParaRPr lang="en-IN"/>
          </a:p>
        </p:txBody>
      </p:sp>
      <p:sp>
        <p:nvSpPr>
          <p:cNvPr id="6" name="Footer Placeholder 5">
            <a:extLst>
              <a:ext uri="{FF2B5EF4-FFF2-40B4-BE49-F238E27FC236}">
                <a16:creationId xmlns:a16="http://schemas.microsoft.com/office/drawing/2014/main" id="{17D504D3-C181-05C7-3B6D-5F624E9F5A4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888335-7F69-9889-4B5C-CA9B6FB79937}"/>
              </a:ext>
            </a:extLst>
          </p:cNvPr>
          <p:cNvSpPr>
            <a:spLocks noGrp="1"/>
          </p:cNvSpPr>
          <p:nvPr>
            <p:ph type="sldNum" sz="quarter" idx="12"/>
          </p:nvPr>
        </p:nvSpPr>
        <p:spPr/>
        <p:txBody>
          <a:bodyPr/>
          <a:lstStyle/>
          <a:p>
            <a:fld id="{D4F69179-D2B7-412B-8531-88FBF6C485FF}" type="slidenum">
              <a:rPr lang="en-IN" smtClean="0"/>
              <a:t>‹#›</a:t>
            </a:fld>
            <a:endParaRPr lang="en-IN"/>
          </a:p>
        </p:txBody>
      </p:sp>
    </p:spTree>
    <p:extLst>
      <p:ext uri="{BB962C8B-B14F-4D97-AF65-F5344CB8AC3E}">
        <p14:creationId xmlns:p14="http://schemas.microsoft.com/office/powerpoint/2010/main" val="2498469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F1AE5-AA38-4553-E59A-147E6FAE766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787E43-369C-0EC4-1841-09BDFE66CE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603DD4-0A49-1CA0-E480-2F7740C1D606}"/>
              </a:ext>
            </a:extLst>
          </p:cNvPr>
          <p:cNvSpPr>
            <a:spLocks noGrp="1"/>
          </p:cNvSpPr>
          <p:nvPr>
            <p:ph type="dt" sz="half" idx="10"/>
          </p:nvPr>
        </p:nvSpPr>
        <p:spPr/>
        <p:txBody>
          <a:bodyPr/>
          <a:lstStyle/>
          <a:p>
            <a:fld id="{4E2584E9-94C9-4B1A-9B99-20F065FB882D}" type="datetimeFigureOut">
              <a:rPr lang="en-IN" smtClean="0"/>
              <a:t>27-02-2026</a:t>
            </a:fld>
            <a:endParaRPr lang="en-IN"/>
          </a:p>
        </p:txBody>
      </p:sp>
      <p:sp>
        <p:nvSpPr>
          <p:cNvPr id="5" name="Footer Placeholder 4">
            <a:extLst>
              <a:ext uri="{FF2B5EF4-FFF2-40B4-BE49-F238E27FC236}">
                <a16:creationId xmlns:a16="http://schemas.microsoft.com/office/drawing/2014/main" id="{F4214B95-6DAD-E4D4-60B1-B6C4A82878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0280E8-E712-A4DE-7392-26E3BA8AA924}"/>
              </a:ext>
            </a:extLst>
          </p:cNvPr>
          <p:cNvSpPr>
            <a:spLocks noGrp="1"/>
          </p:cNvSpPr>
          <p:nvPr>
            <p:ph type="sldNum" sz="quarter" idx="12"/>
          </p:nvPr>
        </p:nvSpPr>
        <p:spPr/>
        <p:txBody>
          <a:bodyPr/>
          <a:lstStyle/>
          <a:p>
            <a:fld id="{D4F69179-D2B7-412B-8531-88FBF6C485FF}" type="slidenum">
              <a:rPr lang="en-IN" smtClean="0"/>
              <a:t>‹#›</a:t>
            </a:fld>
            <a:endParaRPr lang="en-IN"/>
          </a:p>
        </p:txBody>
      </p:sp>
    </p:spTree>
    <p:extLst>
      <p:ext uri="{BB962C8B-B14F-4D97-AF65-F5344CB8AC3E}">
        <p14:creationId xmlns:p14="http://schemas.microsoft.com/office/powerpoint/2010/main" val="3095808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B9CC32-329D-06EE-C0D5-1B362B5AFB4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573D1F1-F749-A600-4D19-00BD5EFDCD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712430-5E7F-DB8F-97FC-3C4DB6DD4A74}"/>
              </a:ext>
            </a:extLst>
          </p:cNvPr>
          <p:cNvSpPr>
            <a:spLocks noGrp="1"/>
          </p:cNvSpPr>
          <p:nvPr>
            <p:ph type="dt" sz="half" idx="10"/>
          </p:nvPr>
        </p:nvSpPr>
        <p:spPr/>
        <p:txBody>
          <a:bodyPr/>
          <a:lstStyle/>
          <a:p>
            <a:fld id="{4E2584E9-94C9-4B1A-9B99-20F065FB882D}" type="datetimeFigureOut">
              <a:rPr lang="en-IN" smtClean="0"/>
              <a:t>27-02-2026</a:t>
            </a:fld>
            <a:endParaRPr lang="en-IN"/>
          </a:p>
        </p:txBody>
      </p:sp>
      <p:sp>
        <p:nvSpPr>
          <p:cNvPr id="5" name="Footer Placeholder 4">
            <a:extLst>
              <a:ext uri="{FF2B5EF4-FFF2-40B4-BE49-F238E27FC236}">
                <a16:creationId xmlns:a16="http://schemas.microsoft.com/office/drawing/2014/main" id="{3765BB59-7DD9-C5EE-5736-317AA6AEBA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7C866F-CA6A-E235-632D-4E5ABF15925F}"/>
              </a:ext>
            </a:extLst>
          </p:cNvPr>
          <p:cNvSpPr>
            <a:spLocks noGrp="1"/>
          </p:cNvSpPr>
          <p:nvPr>
            <p:ph type="sldNum" sz="quarter" idx="12"/>
          </p:nvPr>
        </p:nvSpPr>
        <p:spPr/>
        <p:txBody>
          <a:bodyPr/>
          <a:lstStyle/>
          <a:p>
            <a:fld id="{D4F69179-D2B7-412B-8531-88FBF6C485FF}" type="slidenum">
              <a:rPr lang="en-IN" smtClean="0"/>
              <a:t>‹#›</a:t>
            </a:fld>
            <a:endParaRPr lang="en-IN"/>
          </a:p>
        </p:txBody>
      </p:sp>
    </p:spTree>
    <p:extLst>
      <p:ext uri="{BB962C8B-B14F-4D97-AF65-F5344CB8AC3E}">
        <p14:creationId xmlns:p14="http://schemas.microsoft.com/office/powerpoint/2010/main" val="2659759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2EE204-3225-856E-E886-33EC37E213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EA0A5D8-93C8-E094-E698-AEE6F46ADB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AA50DB-24BE-F12A-CC97-769A62BC3B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2584E9-94C9-4B1A-9B99-20F065FB882D}" type="datetimeFigureOut">
              <a:rPr lang="en-IN" smtClean="0"/>
              <a:t>27-02-2026</a:t>
            </a:fld>
            <a:endParaRPr lang="en-IN"/>
          </a:p>
        </p:txBody>
      </p:sp>
      <p:sp>
        <p:nvSpPr>
          <p:cNvPr id="5" name="Footer Placeholder 4">
            <a:extLst>
              <a:ext uri="{FF2B5EF4-FFF2-40B4-BE49-F238E27FC236}">
                <a16:creationId xmlns:a16="http://schemas.microsoft.com/office/drawing/2014/main" id="{642C7A60-1923-911E-4F12-7C7050113C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6C898D8-CCFA-DCBE-73A8-7915A0F5AA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4F69179-D2B7-412B-8531-88FBF6C485FF}" type="slidenum">
              <a:rPr lang="en-IN" smtClean="0"/>
              <a:t>‹#›</a:t>
            </a:fld>
            <a:endParaRPr lang="en-IN"/>
          </a:p>
        </p:txBody>
      </p:sp>
    </p:spTree>
    <p:extLst>
      <p:ext uri="{BB962C8B-B14F-4D97-AF65-F5344CB8AC3E}">
        <p14:creationId xmlns:p14="http://schemas.microsoft.com/office/powerpoint/2010/main" val="19018647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E90C5-D388-C7FE-AECB-EBB0F15B4E09}"/>
              </a:ext>
            </a:extLst>
          </p:cNvPr>
          <p:cNvSpPr>
            <a:spLocks noGrp="1"/>
          </p:cNvSpPr>
          <p:nvPr>
            <p:ph type="ctrTitle"/>
          </p:nvPr>
        </p:nvSpPr>
        <p:spPr>
          <a:xfrm>
            <a:off x="1929327" y="2677432"/>
            <a:ext cx="8795657" cy="1549358"/>
          </a:xfrm>
        </p:spPr>
        <p:txBody>
          <a:bodyPr>
            <a:normAutofit/>
          </a:bodyPr>
          <a:lstStyle/>
          <a:p>
            <a:r>
              <a:rPr lang="en-US" sz="2800" dirty="0">
                <a:latin typeface="Times New Roman" panose="02020603050405020304" pitchFamily="18" charset="0"/>
                <a:cs typeface="Times New Roman" panose="02020603050405020304" pitchFamily="18" charset="0"/>
              </a:rPr>
              <a:t>Title: TACTICAL RESCUE ANALYSIS SYSTEM USING IOT</a:t>
            </a:r>
            <a:endParaRPr lang="en-IN" sz="28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9A7CC719-3EBA-2F13-3545-0D032268D093}"/>
              </a:ext>
            </a:extLst>
          </p:cNvPr>
          <p:cNvSpPr>
            <a:spLocks noGrp="1"/>
          </p:cNvSpPr>
          <p:nvPr>
            <p:ph type="subTitle" idx="1"/>
          </p:nvPr>
        </p:nvSpPr>
        <p:spPr>
          <a:xfrm>
            <a:off x="580445" y="4973743"/>
            <a:ext cx="5109770" cy="1306112"/>
          </a:xfrm>
        </p:spPr>
        <p:txBody>
          <a:bodyPr>
            <a:normAutofit/>
          </a:bodyPr>
          <a:lstStyle/>
          <a:p>
            <a:r>
              <a:rPr lang="en-US" sz="2000" b="1" dirty="0">
                <a:latin typeface="Times New Roman" panose="02020603050405020304" pitchFamily="18" charset="0"/>
                <a:cs typeface="Times New Roman" panose="02020603050405020304" pitchFamily="18" charset="0"/>
              </a:rPr>
              <a:t>PROJECT GUIDE:</a:t>
            </a:r>
          </a:p>
          <a:p>
            <a:r>
              <a:rPr lang="en-US" sz="2000" dirty="0">
                <a:latin typeface="Times New Roman" panose="02020603050405020304" pitchFamily="18" charset="0"/>
                <a:cs typeface="Times New Roman" panose="02020603050405020304" pitchFamily="18" charset="0"/>
              </a:rPr>
              <a:t>DR .R. GAYATHRI</a:t>
            </a:r>
          </a:p>
        </p:txBody>
      </p:sp>
      <p:sp>
        <p:nvSpPr>
          <p:cNvPr id="4" name="Title 1">
            <a:extLst>
              <a:ext uri="{FF2B5EF4-FFF2-40B4-BE49-F238E27FC236}">
                <a16:creationId xmlns:a16="http://schemas.microsoft.com/office/drawing/2014/main" id="{54428B11-DA46-43CF-B54A-3DE370442874}"/>
              </a:ext>
            </a:extLst>
          </p:cNvPr>
          <p:cNvSpPr>
            <a:spLocks noGrp="1"/>
          </p:cNvSpPr>
          <p:nvPr/>
        </p:nvSpPr>
        <p:spPr>
          <a:xfrm>
            <a:off x="1580984" y="1857087"/>
            <a:ext cx="9144000" cy="62020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latin typeface="Times New Roman" panose="02020603050405020304" pitchFamily="18" charset="0"/>
                <a:cs typeface="Times New Roman" panose="02020603050405020304" pitchFamily="18" charset="0"/>
              </a:rPr>
              <a:t>ANNAMALAI</a:t>
            </a:r>
            <a:r>
              <a:rPr lang="en-US" sz="32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UNIVERSITY</a:t>
            </a:r>
          </a:p>
        </p:txBody>
      </p:sp>
      <p:sp>
        <p:nvSpPr>
          <p:cNvPr id="5" name="Subtitle 2">
            <a:extLst>
              <a:ext uri="{FF2B5EF4-FFF2-40B4-BE49-F238E27FC236}">
                <a16:creationId xmlns:a16="http://schemas.microsoft.com/office/drawing/2014/main" id="{F14E0995-F558-453F-AC6D-F7D79A399822}"/>
              </a:ext>
            </a:extLst>
          </p:cNvPr>
          <p:cNvSpPr>
            <a:spLocks noGrp="1"/>
          </p:cNvSpPr>
          <p:nvPr/>
        </p:nvSpPr>
        <p:spPr>
          <a:xfrm>
            <a:off x="2306697" y="2576432"/>
            <a:ext cx="8157029" cy="388101"/>
          </a:xfrm>
          <a:prstGeom prst="rect">
            <a:avLst/>
          </a:prstGeom>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600" b="1" dirty="0">
                <a:latin typeface="Times New Roman" panose="02020603050405020304" pitchFamily="18" charset="0"/>
                <a:cs typeface="Times New Roman" panose="02020603050405020304" pitchFamily="18" charset="0"/>
              </a:rPr>
              <a:t>ELECTRONICS AND COMMUNICATION ENGINEERING </a:t>
            </a:r>
          </a:p>
          <a:p>
            <a:endParaRPr lang="en-US" dirty="0">
              <a:latin typeface="Times New Roman" panose="02020603050405020304" pitchFamily="18" charset="0"/>
              <a:cs typeface="Times New Roman" panose="02020603050405020304" pitchFamily="18" charset="0"/>
            </a:endParaRPr>
          </a:p>
        </p:txBody>
      </p:sp>
      <p:sp>
        <p:nvSpPr>
          <p:cNvPr id="6" name="Subtitle 2">
            <a:extLst>
              <a:ext uri="{FF2B5EF4-FFF2-40B4-BE49-F238E27FC236}">
                <a16:creationId xmlns:a16="http://schemas.microsoft.com/office/drawing/2014/main" id="{038704D9-04A9-4BD1-ACF3-54B2054278DD}"/>
              </a:ext>
            </a:extLst>
          </p:cNvPr>
          <p:cNvSpPr txBox="1">
            <a:spLocks/>
          </p:cNvSpPr>
          <p:nvPr/>
        </p:nvSpPr>
        <p:spPr>
          <a:xfrm>
            <a:off x="580445" y="3600647"/>
            <a:ext cx="3132814" cy="954156"/>
          </a:xfrm>
          <a:prstGeom prst="rect">
            <a:avLst/>
          </a:prstGeom>
        </p:spPr>
        <p:txBody>
          <a:bodyPr vert="horz" lIns="91440" tIns="45720" rIns="91440" bIns="45720" rtlCol="0">
            <a:normAutofit/>
          </a:bodyPr>
          <a:lstStyle>
            <a:defPPr>
              <a:defRPr lang="en-US"/>
            </a:defPPr>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7" name="Subtitle 2">
            <a:extLst>
              <a:ext uri="{FF2B5EF4-FFF2-40B4-BE49-F238E27FC236}">
                <a16:creationId xmlns:a16="http://schemas.microsoft.com/office/drawing/2014/main" id="{7D2922C4-9849-4AAD-AEC0-A34994B9E646}"/>
              </a:ext>
            </a:extLst>
          </p:cNvPr>
          <p:cNvSpPr txBox="1">
            <a:spLocks/>
          </p:cNvSpPr>
          <p:nvPr/>
        </p:nvSpPr>
        <p:spPr>
          <a:xfrm>
            <a:off x="7442421" y="4816793"/>
            <a:ext cx="4169134" cy="1549358"/>
          </a:xfrm>
          <a:prstGeom prst="rect">
            <a:avLst/>
          </a:prstGeom>
        </p:spPr>
        <p:txBody>
          <a:bodyPr vert="horz" lIns="91440" tIns="45720" rIns="91440" bIns="45720" rtlCol="0">
            <a:noAutofit/>
          </a:bodyPr>
          <a:lstStyle>
            <a:defPPr>
              <a:defRPr lang="en-US"/>
            </a:defPPr>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dirty="0">
                <a:latin typeface="Times New Roman" panose="02020603050405020304" pitchFamily="18" charset="0"/>
                <a:cs typeface="Times New Roman" panose="02020603050405020304" pitchFamily="18" charset="0"/>
              </a:rPr>
              <a:t>PROJECT MEMBERS: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EZHILARASAN. R -221010016</a:t>
            </a:r>
          </a:p>
          <a:p>
            <a:r>
              <a:rPr lang="en-US" sz="2000" dirty="0">
                <a:latin typeface="Times New Roman" panose="02020603050405020304" pitchFamily="18" charset="0"/>
                <a:cs typeface="Times New Roman" panose="02020603050405020304" pitchFamily="18" charset="0"/>
              </a:rPr>
              <a:t>GUNA .R -221010018</a:t>
            </a:r>
          </a:p>
          <a:p>
            <a:r>
              <a:rPr lang="en-US" sz="2000" dirty="0">
                <a:latin typeface="Times New Roman" panose="02020603050405020304" pitchFamily="18" charset="0"/>
                <a:cs typeface="Times New Roman" panose="02020603050405020304" pitchFamily="18" charset="0"/>
              </a:rPr>
              <a:t>AKASH. A -222010055</a:t>
            </a:r>
          </a:p>
          <a:p>
            <a:r>
              <a:rPr lang="en-US" sz="2000" dirty="0">
                <a:latin typeface="Times New Roman" panose="02020603050405020304" pitchFamily="18" charset="0"/>
                <a:cs typeface="Times New Roman" panose="02020603050405020304" pitchFamily="18" charset="0"/>
              </a:rPr>
              <a:t>VEERASELVAM .R -211010038</a:t>
            </a:r>
          </a:p>
        </p:txBody>
      </p:sp>
      <p:sp>
        <p:nvSpPr>
          <p:cNvPr id="8" name="Title 1">
            <a:extLst>
              <a:ext uri="{FF2B5EF4-FFF2-40B4-BE49-F238E27FC236}">
                <a16:creationId xmlns:a16="http://schemas.microsoft.com/office/drawing/2014/main" id="{A845CA0F-3352-4CAF-AA0C-F0881496E4FE}"/>
              </a:ext>
            </a:extLst>
          </p:cNvPr>
          <p:cNvSpPr txBox="1">
            <a:spLocks/>
          </p:cNvSpPr>
          <p:nvPr/>
        </p:nvSpPr>
        <p:spPr>
          <a:xfrm>
            <a:off x="1580984" y="2706004"/>
            <a:ext cx="9144000" cy="807057"/>
          </a:xfrm>
          <a:prstGeom prst="rect">
            <a:avLst/>
          </a:prstGeom>
        </p:spPr>
        <p:txBody>
          <a:bodyPr vert="horz" lIns="91440" tIns="45720" rIns="91440" bIns="45720" rtlCol="0" anchor="b">
            <a:norm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22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82C96503-601A-46E1-8A00-47CAA367E661}"/>
              </a:ext>
            </a:extLst>
          </p:cNvPr>
          <p:cNvPicPr/>
          <p:nvPr/>
        </p:nvPicPr>
        <p:blipFill>
          <a:blip r:embed="rId2"/>
          <a:stretch>
            <a:fillRect/>
          </a:stretch>
        </p:blipFill>
        <p:spPr>
          <a:xfrm>
            <a:off x="5109707" y="209724"/>
            <a:ext cx="1972586" cy="1656701"/>
          </a:xfrm>
          <a:prstGeom prst="rect">
            <a:avLst/>
          </a:prstGeom>
        </p:spPr>
      </p:pic>
    </p:spTree>
    <p:extLst>
      <p:ext uri="{BB962C8B-B14F-4D97-AF65-F5344CB8AC3E}">
        <p14:creationId xmlns:p14="http://schemas.microsoft.com/office/powerpoint/2010/main" val="2480779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21AD0-D50F-3617-A8A8-A0C05638DE82}"/>
              </a:ext>
            </a:extLst>
          </p:cNvPr>
          <p:cNvSpPr>
            <a:spLocks noGrp="1"/>
          </p:cNvSpPr>
          <p:nvPr>
            <p:ph type="title"/>
          </p:nvPr>
        </p:nvSpPr>
        <p:spPr/>
        <p:txBody>
          <a:bodyPr>
            <a:normAutofit/>
          </a:bodyPr>
          <a:lstStyle/>
          <a:p>
            <a:r>
              <a:rPr lang="en-US" sz="2400" b="1" dirty="0">
                <a:solidFill>
                  <a:schemeClr val="accent6">
                    <a:lumMod val="75000"/>
                  </a:schemeClr>
                </a:solidFill>
                <a:latin typeface="Times New Roman" panose="02020603050405020304" pitchFamily="18" charset="0"/>
                <a:cs typeface="Times New Roman" panose="02020603050405020304" pitchFamily="18" charset="0"/>
              </a:rPr>
              <a:t>ABSTRACT:</a:t>
            </a:r>
            <a:endParaRPr lang="en-IN" sz="2400" b="1"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B94DB36-D46C-37E3-EA7C-74A3F1403444}"/>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Tactical Rescue Analysis System</a:t>
            </a:r>
            <a:r>
              <a:rPr lang="en-US" sz="2000" dirty="0">
                <a:latin typeface="Times New Roman" panose="02020603050405020304" pitchFamily="18" charset="0"/>
                <a:cs typeface="Times New Roman" panose="02020603050405020304" pitchFamily="18" charset="0"/>
              </a:rPr>
              <a:t> is an IoT-based framework designed to enhance the safety and efficiency of emergency response operations. In hazardous scenarios where human entry is restricted, this system utilizes a network of environmental and biological sensors to monitor real-time conditions. By integrating microcontrollers (like Arduino or ESP32) with a cloud platform (Firebase), the system collects data on gas levels, temperature, and victim location. This data is analyzed to provide rescue teams with an "actionable map" of the site, significantly reducing response time and minimizing risks to both the victims and the rescuers.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8530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 AI generated">
            <a:extLst>
              <a:ext uri="{FF2B5EF4-FFF2-40B4-BE49-F238E27FC236}">
                <a16:creationId xmlns:a16="http://schemas.microsoft.com/office/drawing/2014/main" id="{708F0EDB-A36F-BF98-38C7-2F81BDECF81E}"/>
              </a:ext>
            </a:extLst>
          </p:cNvPr>
          <p:cNvSpPr>
            <a:spLocks noChangeAspect="1" noChangeArrowheads="1"/>
          </p:cNvSpPr>
          <p:nvPr/>
        </p:nvSpPr>
        <p:spPr bwMode="auto">
          <a:xfrm>
            <a:off x="7191829" y="3124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descr="A diagram of a computer security system&#10;&#10;AI-generated content may be incorrect.">
            <a:extLst>
              <a:ext uri="{FF2B5EF4-FFF2-40B4-BE49-F238E27FC236}">
                <a16:creationId xmlns:a16="http://schemas.microsoft.com/office/drawing/2014/main" id="{E00629A0-0D28-BB91-1A71-86293DC04398}"/>
              </a:ext>
            </a:extLst>
          </p:cNvPr>
          <p:cNvPicPr>
            <a:picLocks noChangeAspect="1"/>
          </p:cNvPicPr>
          <p:nvPr/>
        </p:nvPicPr>
        <p:blipFill>
          <a:blip r:embed="rId2"/>
          <a:stretch>
            <a:fillRect/>
          </a:stretch>
        </p:blipFill>
        <p:spPr>
          <a:xfrm>
            <a:off x="1219200" y="766762"/>
            <a:ext cx="9753600" cy="5324475"/>
          </a:xfrm>
          <a:prstGeom prst="rect">
            <a:avLst/>
          </a:prstGeom>
        </p:spPr>
      </p:pic>
    </p:spTree>
    <p:extLst>
      <p:ext uri="{BB962C8B-B14F-4D97-AF65-F5344CB8AC3E}">
        <p14:creationId xmlns:p14="http://schemas.microsoft.com/office/powerpoint/2010/main" val="1187884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0DEA6B-7695-D688-C6EE-6B6ED636B040}"/>
              </a:ext>
            </a:extLst>
          </p:cNvPr>
          <p:cNvSpPr txBox="1"/>
          <p:nvPr/>
        </p:nvSpPr>
        <p:spPr>
          <a:xfrm>
            <a:off x="1915884" y="1028343"/>
            <a:ext cx="6096000" cy="3877985"/>
          </a:xfrm>
          <a:prstGeom prst="rect">
            <a:avLst/>
          </a:prstGeom>
          <a:noFill/>
        </p:spPr>
        <p:txBody>
          <a:bodyPr wrap="square">
            <a:spAutoFit/>
          </a:bodyPr>
          <a:lstStyle/>
          <a:p>
            <a:pPr>
              <a:buNone/>
            </a:pPr>
            <a:r>
              <a:rPr lang="en-US" sz="2800" b="1" dirty="0">
                <a:solidFill>
                  <a:schemeClr val="accent5">
                    <a:lumMod val="75000"/>
                  </a:schemeClr>
                </a:solidFill>
                <a:latin typeface="Times New Roman" panose="02020603050405020304" pitchFamily="18" charset="0"/>
                <a:cs typeface="Times New Roman" panose="02020603050405020304" pitchFamily="18" charset="0"/>
              </a:rPr>
              <a:t>Sensor:</a:t>
            </a:r>
            <a:r>
              <a:rPr lang="en-US" sz="2800" dirty="0">
                <a:solidFill>
                  <a:schemeClr val="accent5">
                    <a:lumMod val="75000"/>
                  </a:schemeClr>
                </a:solidFill>
                <a:latin typeface="Times New Roman" panose="02020603050405020304" pitchFamily="18" charset="0"/>
                <a:cs typeface="Times New Roman" panose="02020603050405020304" pitchFamily="18" charset="0"/>
              </a:rPr>
              <a:t> </a:t>
            </a:r>
            <a:r>
              <a:rPr lang="en-US" sz="2800" b="1" dirty="0">
                <a:solidFill>
                  <a:schemeClr val="accent5">
                    <a:lumMod val="75000"/>
                  </a:schemeClr>
                </a:solidFill>
                <a:latin typeface="Times New Roman" panose="02020603050405020304" pitchFamily="18" charset="0"/>
                <a:cs typeface="Times New Roman" panose="02020603050405020304" pitchFamily="18" charset="0"/>
              </a:rPr>
              <a:t>MQ-2 Gas Sensor</a:t>
            </a:r>
            <a:r>
              <a:rPr lang="en-US" sz="2800" dirty="0">
                <a:solidFill>
                  <a:schemeClr val="accent5">
                    <a:lumMod val="75000"/>
                  </a:schemeClr>
                </a:solidFill>
                <a:latin typeface="Times New Roman" panose="02020603050405020304" pitchFamily="18" charset="0"/>
                <a:cs typeface="Times New Roman" panose="02020603050405020304" pitchFamily="18" charset="0"/>
              </a:rPr>
              <a:t>  </a:t>
            </a:r>
          </a:p>
          <a:p>
            <a:pPr>
              <a:buNone/>
            </a:pPr>
            <a:endParaRPr lang="en-US" b="1"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What it does:</a:t>
            </a:r>
            <a:r>
              <a:rPr lang="en-US" sz="2000" dirty="0">
                <a:latin typeface="Times New Roman" panose="02020603050405020304" pitchFamily="18" charset="0"/>
                <a:cs typeface="Times New Roman" panose="02020603050405020304" pitchFamily="18" charset="0"/>
              </a:rPr>
              <a:t> Smells things humans can’t.</a:t>
            </a:r>
          </a:p>
          <a:p>
            <a:pPr>
              <a:buNone/>
            </a:pP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Simple Explanation:</a:t>
            </a:r>
            <a:r>
              <a:rPr lang="en-US" sz="2000" dirty="0">
                <a:latin typeface="Times New Roman" panose="02020603050405020304" pitchFamily="18" charset="0"/>
                <a:cs typeface="Times New Roman" panose="02020603050405020304" pitchFamily="18" charset="0"/>
              </a:rPr>
              <a:t> In a post-apocalypse, fires or chemical leaks from old factories are common. This sensor "sniffs" the air for smoke, cooking gas (LPG), or leaking methane.</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Prevention:</a:t>
            </a:r>
            <a:r>
              <a:rPr lang="en-US" sz="2000" dirty="0">
                <a:latin typeface="Times New Roman" panose="02020603050405020304" pitchFamily="18" charset="0"/>
                <a:cs typeface="Times New Roman" panose="02020603050405020304" pitchFamily="18" charset="0"/>
              </a:rPr>
              <a:t> It triggers a buzzer … the rescue team enters a basement or tunnel, preventing suffocation or explosions.</a:t>
            </a:r>
          </a:p>
        </p:txBody>
      </p:sp>
      <p:pic>
        <p:nvPicPr>
          <p:cNvPr id="2050" name="Picture 2" descr="MQ2 Arduino Gas Sensor : Datasheet ...">
            <a:extLst>
              <a:ext uri="{FF2B5EF4-FFF2-40B4-BE49-F238E27FC236}">
                <a16:creationId xmlns:a16="http://schemas.microsoft.com/office/drawing/2014/main" id="{D23D2055-1637-5912-A906-84419282C9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14254" y="1476375"/>
            <a:ext cx="2343150" cy="195262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ow to use MQ2 gas sensor with Arduino ...">
            <a:extLst>
              <a:ext uri="{FF2B5EF4-FFF2-40B4-BE49-F238E27FC236}">
                <a16:creationId xmlns:a16="http://schemas.microsoft.com/office/drawing/2014/main" id="{3A8A3E10-F648-C284-87ED-8B111AA740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4279" y="4581525"/>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2644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A3D9840-7B41-1FF5-C384-CFCC4E1CD272}"/>
              </a:ext>
            </a:extLst>
          </p:cNvPr>
          <p:cNvSpPr txBox="1"/>
          <p:nvPr/>
        </p:nvSpPr>
        <p:spPr>
          <a:xfrm>
            <a:off x="1828801" y="1226795"/>
            <a:ext cx="6096000" cy="3693319"/>
          </a:xfrm>
          <a:prstGeom prst="rect">
            <a:avLst/>
          </a:prstGeom>
          <a:noFill/>
        </p:spPr>
        <p:txBody>
          <a:bodyPr wrap="square">
            <a:spAutoFit/>
          </a:bodyPr>
          <a:lstStyle/>
          <a:p>
            <a:pPr>
              <a:buNone/>
            </a:pPr>
            <a:r>
              <a:rPr lang="en-US" sz="2800" b="1" dirty="0">
                <a:solidFill>
                  <a:schemeClr val="accent5">
                    <a:lumMod val="75000"/>
                  </a:schemeClr>
                </a:solidFill>
                <a:latin typeface="Times New Roman" panose="02020603050405020304" pitchFamily="18" charset="0"/>
                <a:cs typeface="Times New Roman" panose="02020603050405020304" pitchFamily="18" charset="0"/>
              </a:rPr>
              <a:t>Sensor:</a:t>
            </a:r>
            <a:r>
              <a:rPr lang="en-US" sz="2800" dirty="0">
                <a:solidFill>
                  <a:schemeClr val="accent5">
                    <a:lumMod val="75000"/>
                  </a:schemeClr>
                </a:solidFill>
                <a:latin typeface="Times New Roman" panose="02020603050405020304" pitchFamily="18" charset="0"/>
                <a:cs typeface="Times New Roman" panose="02020603050405020304" pitchFamily="18" charset="0"/>
              </a:rPr>
              <a:t> </a:t>
            </a:r>
            <a:r>
              <a:rPr lang="en-US" sz="2800" b="1" dirty="0">
                <a:solidFill>
                  <a:schemeClr val="accent5">
                    <a:lumMod val="75000"/>
                  </a:schemeClr>
                </a:solidFill>
                <a:latin typeface="Times New Roman" panose="02020603050405020304" pitchFamily="18" charset="0"/>
                <a:cs typeface="Times New Roman" panose="02020603050405020304" pitchFamily="18" charset="0"/>
              </a:rPr>
              <a:t>PIR Motion Sensor (HC-SR501)</a:t>
            </a:r>
            <a:r>
              <a:rPr lang="en-US" sz="2800" dirty="0">
                <a:solidFill>
                  <a:schemeClr val="accent5">
                    <a:lumMod val="75000"/>
                  </a:schemeClr>
                </a:solidFill>
                <a:latin typeface="Times New Roman" panose="02020603050405020304" pitchFamily="18" charset="0"/>
                <a:cs typeface="Times New Roman" panose="02020603050405020304" pitchFamily="18" charset="0"/>
              </a:rPr>
              <a:t> </a:t>
            </a:r>
          </a:p>
          <a:p>
            <a:pPr>
              <a:buNone/>
            </a:pPr>
            <a:endParaRPr lang="en-US" b="1"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What it does:</a:t>
            </a:r>
            <a:r>
              <a:rPr lang="en-US" sz="2000" dirty="0">
                <a:latin typeface="Times New Roman" panose="02020603050405020304" pitchFamily="18" charset="0"/>
                <a:cs typeface="Times New Roman" panose="02020603050405020304" pitchFamily="18" charset="0"/>
              </a:rPr>
              <a:t> Sees "heat in motion.“</a:t>
            </a:r>
          </a:p>
          <a:p>
            <a:pPr>
              <a:buNone/>
            </a:pP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Simple Explanation:</a:t>
            </a:r>
            <a:r>
              <a:rPr lang="en-US" sz="2000" dirty="0">
                <a:latin typeface="Times New Roman" panose="02020603050405020304" pitchFamily="18" charset="0"/>
                <a:cs typeface="Times New Roman" panose="02020603050405020304" pitchFamily="18" charset="0"/>
              </a:rPr>
              <a:t> It detects the infrared heat coming off a human body.</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Post-Apocalypse Use:</a:t>
            </a:r>
            <a:r>
              <a:rPr lang="en-US" sz="2000" dirty="0">
                <a:latin typeface="Times New Roman" panose="02020603050405020304" pitchFamily="18" charset="0"/>
                <a:cs typeface="Times New Roman" panose="02020603050405020304" pitchFamily="18" charset="0"/>
              </a:rPr>
              <a:t> Used to find survivors trapped under light debris or to guard a "Safe Zone" perimeter against intruders (raiders or wild animals) at night.</a:t>
            </a:r>
          </a:p>
        </p:txBody>
      </p:sp>
      <p:pic>
        <p:nvPicPr>
          <p:cNvPr id="3076" name="Picture 4" descr="Core Technologies HC-SR501 Adjust Ir ...">
            <a:extLst>
              <a:ext uri="{FF2B5EF4-FFF2-40B4-BE49-F238E27FC236}">
                <a16:creationId xmlns:a16="http://schemas.microsoft.com/office/drawing/2014/main" id="{E5F91E29-4793-09F6-71FC-4F5049CB6E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2670" y="929850"/>
            <a:ext cx="2247900" cy="202882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Buy PIR Motion Sensor Detector Module ...">
            <a:extLst>
              <a:ext uri="{FF2B5EF4-FFF2-40B4-BE49-F238E27FC236}">
                <a16:creationId xmlns:a16="http://schemas.microsoft.com/office/drawing/2014/main" id="{071600E8-8E65-9FA4-04E2-029DA89A24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4801" y="3429000"/>
            <a:ext cx="3512456" cy="29997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0741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1B4A5C-E15B-1778-EE13-C39599F8A3D4}"/>
              </a:ext>
            </a:extLst>
          </p:cNvPr>
          <p:cNvSpPr txBox="1"/>
          <p:nvPr/>
        </p:nvSpPr>
        <p:spPr>
          <a:xfrm>
            <a:off x="1253066" y="1466756"/>
            <a:ext cx="7382935" cy="3262432"/>
          </a:xfrm>
          <a:prstGeom prst="rect">
            <a:avLst/>
          </a:prstGeom>
          <a:noFill/>
        </p:spPr>
        <p:txBody>
          <a:bodyPr wrap="square">
            <a:spAutoFit/>
          </a:bodyPr>
          <a:lstStyle/>
          <a:p>
            <a:r>
              <a:rPr lang="en-US" sz="2800" b="1" dirty="0">
                <a:solidFill>
                  <a:schemeClr val="accent5">
                    <a:lumMod val="75000"/>
                  </a:schemeClr>
                </a:solidFill>
                <a:latin typeface="Times New Roman" panose="02020603050405020304" pitchFamily="18" charset="0"/>
                <a:cs typeface="Times New Roman" panose="02020603050405020304" pitchFamily="18" charset="0"/>
              </a:rPr>
              <a:t>Sensor:</a:t>
            </a:r>
            <a:r>
              <a:rPr lang="en-US" sz="2800" dirty="0">
                <a:solidFill>
                  <a:schemeClr val="accent5">
                    <a:lumMod val="75000"/>
                  </a:schemeClr>
                </a:solidFill>
                <a:latin typeface="Times New Roman" panose="02020603050405020304" pitchFamily="18" charset="0"/>
                <a:cs typeface="Times New Roman" panose="02020603050405020304" pitchFamily="18" charset="0"/>
              </a:rPr>
              <a:t> </a:t>
            </a:r>
            <a:r>
              <a:rPr lang="en-US" sz="2800" b="1" dirty="0">
                <a:solidFill>
                  <a:schemeClr val="accent5">
                    <a:lumMod val="75000"/>
                  </a:schemeClr>
                </a:solidFill>
                <a:latin typeface="Times New Roman" panose="02020603050405020304" pitchFamily="18" charset="0"/>
                <a:cs typeface="Times New Roman" panose="02020603050405020304" pitchFamily="18" charset="0"/>
              </a:rPr>
              <a:t>DHT11 Temperature &amp;Humidity</a:t>
            </a:r>
            <a:r>
              <a:rPr lang="en-US" sz="2800" dirty="0">
                <a:solidFill>
                  <a:schemeClr val="accent5">
                    <a:lumMod val="75000"/>
                  </a:schemeClr>
                </a:solidFill>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What it does:</a:t>
            </a:r>
            <a:r>
              <a:rPr lang="en-US" sz="2000" dirty="0">
                <a:latin typeface="Times New Roman" panose="02020603050405020304" pitchFamily="18" charset="0"/>
                <a:cs typeface="Times New Roman" panose="02020603050405020304" pitchFamily="18" charset="0"/>
              </a:rPr>
              <a:t> Checks the climate.</a:t>
            </a:r>
          </a:p>
          <a:p>
            <a:pPr>
              <a:buNone/>
            </a:pP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Simple Explanation:</a:t>
            </a:r>
            <a:r>
              <a:rPr lang="en-US" sz="2000" dirty="0">
                <a:latin typeface="Times New Roman" panose="02020603050405020304" pitchFamily="18" charset="0"/>
                <a:cs typeface="Times New Roman" panose="02020603050405020304" pitchFamily="18" charset="0"/>
              </a:rPr>
              <a:t> Extreme heat (from leftover fires) or freezing cold can kill a survivor just as fast as a wound.</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Prevention:</a:t>
            </a:r>
            <a:r>
              <a:rPr lang="en-US" sz="2000" dirty="0">
                <a:latin typeface="Times New Roman" panose="02020603050405020304" pitchFamily="18" charset="0"/>
                <a:cs typeface="Times New Roman" panose="02020603050405020304" pitchFamily="18" charset="0"/>
              </a:rPr>
              <a:t> It monitors the "Micro-climate" of a rescue pod to ensure the trapped victim isn't suffering from hypothermia or heat exhaustion</a:t>
            </a:r>
            <a:r>
              <a:rPr lang="en-US" dirty="0">
                <a:latin typeface="Times New Roman" panose="02020603050405020304" pitchFamily="18" charset="0"/>
                <a:cs typeface="Times New Roman" panose="02020603050405020304" pitchFamily="18" charset="0"/>
              </a:rPr>
              <a:t>.</a:t>
            </a:r>
          </a:p>
        </p:txBody>
      </p:sp>
      <p:pic>
        <p:nvPicPr>
          <p:cNvPr id="4098" name="Picture 2" descr="Temperature Sensor Module for Arduino ...">
            <a:extLst>
              <a:ext uri="{FF2B5EF4-FFF2-40B4-BE49-F238E27FC236}">
                <a16:creationId xmlns:a16="http://schemas.microsoft.com/office/drawing/2014/main" id="{DF511652-8EBC-8B2B-AD64-17ED9B6535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37601" y="1077686"/>
            <a:ext cx="2351314" cy="2351314"/>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Buy DHT11 Sensor Temperature &amp; Humidity ...">
            <a:extLst>
              <a:ext uri="{FF2B5EF4-FFF2-40B4-BE49-F238E27FC236}">
                <a16:creationId xmlns:a16="http://schemas.microsoft.com/office/drawing/2014/main" id="{AA5D1C28-EC45-D41C-E0CB-6B2F2B2BB0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75523" y="3881438"/>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7313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C7012D-A4B7-1488-C74C-87B031FBE3F0}"/>
              </a:ext>
            </a:extLst>
          </p:cNvPr>
          <p:cNvSpPr txBox="1"/>
          <p:nvPr/>
        </p:nvSpPr>
        <p:spPr>
          <a:xfrm>
            <a:off x="1744209" y="1353905"/>
            <a:ext cx="6096000" cy="3877985"/>
          </a:xfrm>
          <a:prstGeom prst="rect">
            <a:avLst/>
          </a:prstGeom>
          <a:noFill/>
        </p:spPr>
        <p:txBody>
          <a:bodyPr wrap="square">
            <a:spAutoFit/>
          </a:bodyPr>
          <a:lstStyle/>
          <a:p>
            <a:pPr>
              <a:buNone/>
            </a:pPr>
            <a:r>
              <a:rPr lang="en-US" sz="2800" b="1" dirty="0">
                <a:solidFill>
                  <a:schemeClr val="accent5">
                    <a:lumMod val="75000"/>
                  </a:schemeClr>
                </a:solidFill>
                <a:latin typeface="Times New Roman" panose="02020603050405020304" pitchFamily="18" charset="0"/>
                <a:cs typeface="Times New Roman" panose="02020603050405020304" pitchFamily="18" charset="0"/>
              </a:rPr>
              <a:t>Sensor:</a:t>
            </a:r>
            <a:r>
              <a:rPr lang="en-US" sz="2800" dirty="0">
                <a:solidFill>
                  <a:schemeClr val="accent5">
                    <a:lumMod val="75000"/>
                  </a:schemeClr>
                </a:solidFill>
                <a:latin typeface="Times New Roman" panose="02020603050405020304" pitchFamily="18" charset="0"/>
                <a:cs typeface="Times New Roman" panose="02020603050405020304" pitchFamily="18" charset="0"/>
              </a:rPr>
              <a:t> </a:t>
            </a:r>
            <a:r>
              <a:rPr lang="en-US" sz="2800" b="1" dirty="0">
                <a:solidFill>
                  <a:schemeClr val="accent5">
                    <a:lumMod val="75000"/>
                  </a:schemeClr>
                </a:solidFill>
                <a:latin typeface="Times New Roman" panose="02020603050405020304" pitchFamily="18" charset="0"/>
                <a:cs typeface="Times New Roman" panose="02020603050405020304" pitchFamily="18" charset="0"/>
              </a:rPr>
              <a:t>SW-420 Vibration Sensor</a:t>
            </a:r>
            <a:r>
              <a:rPr lang="en-US" sz="2800" dirty="0">
                <a:solidFill>
                  <a:schemeClr val="accent5">
                    <a:lumMod val="75000"/>
                  </a:schemeClr>
                </a:solidFill>
                <a:latin typeface="Times New Roman" panose="02020603050405020304" pitchFamily="18" charset="0"/>
                <a:cs typeface="Times New Roman" panose="02020603050405020304" pitchFamily="18" charset="0"/>
              </a:rPr>
              <a:t> </a:t>
            </a:r>
          </a:p>
          <a:p>
            <a:pPr>
              <a:buNone/>
            </a:pPr>
            <a:endParaRPr lang="en-US" b="1"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What it does:</a:t>
            </a:r>
            <a:r>
              <a:rPr lang="en-US" sz="2000" dirty="0">
                <a:latin typeface="Times New Roman" panose="02020603050405020304" pitchFamily="18" charset="0"/>
                <a:cs typeface="Times New Roman" panose="02020603050405020304" pitchFamily="18" charset="0"/>
              </a:rPr>
              <a:t> Feels the ground shake.</a:t>
            </a:r>
          </a:p>
          <a:p>
            <a:pPr>
              <a:buNone/>
            </a:pP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Simple Explanation:</a:t>
            </a:r>
            <a:r>
              <a:rPr lang="en-US" sz="2000" dirty="0">
                <a:latin typeface="Times New Roman" panose="02020603050405020304" pitchFamily="18" charset="0"/>
                <a:cs typeface="Times New Roman" panose="02020603050405020304" pitchFamily="18" charset="0"/>
              </a:rPr>
              <a:t> Post-apocalyptic buildings are decaying and shaky. This sensor is like a digital "ear" pressed to the wall.</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Prevention:</a:t>
            </a:r>
            <a:r>
              <a:rPr lang="en-US" sz="2000" dirty="0">
                <a:latin typeface="Times New Roman" panose="02020603050405020304" pitchFamily="18" charset="0"/>
                <a:cs typeface="Times New Roman" panose="02020603050405020304" pitchFamily="18" charset="0"/>
              </a:rPr>
              <a:t> If a wall starts to shift or a secondary earthquake (aftershock) occurs, the sensor detects the vibration and tells the rescue team to </a:t>
            </a:r>
            <a:r>
              <a:rPr lang="en-US" sz="2000" b="1" dirty="0">
                <a:latin typeface="Times New Roman" panose="02020603050405020304" pitchFamily="18" charset="0"/>
                <a:cs typeface="Times New Roman" panose="02020603050405020304" pitchFamily="18" charset="0"/>
              </a:rPr>
              <a:t>GET OUT</a:t>
            </a:r>
            <a:r>
              <a:rPr lang="en-US" sz="2000" dirty="0">
                <a:latin typeface="Times New Roman" panose="02020603050405020304" pitchFamily="18" charset="0"/>
                <a:cs typeface="Times New Roman" panose="02020603050405020304" pitchFamily="18" charset="0"/>
              </a:rPr>
              <a:t> immediately.</a:t>
            </a:r>
          </a:p>
        </p:txBody>
      </p:sp>
      <p:pic>
        <p:nvPicPr>
          <p:cNvPr id="5126" name="Picture 6" descr="SW-420 Vibration Sensor Module ...">
            <a:extLst>
              <a:ext uri="{FF2B5EF4-FFF2-40B4-BE49-F238E27FC236}">
                <a16:creationId xmlns:a16="http://schemas.microsoft.com/office/drawing/2014/main" id="{0C14A048-D923-D628-456C-EFB6982BF3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81418" y="1353905"/>
            <a:ext cx="2276475" cy="2009775"/>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ainow.in/wp-content/uploads/2024/03/2790-sw-420-no...">
            <a:extLst>
              <a:ext uri="{FF2B5EF4-FFF2-40B4-BE49-F238E27FC236}">
                <a16:creationId xmlns:a16="http://schemas.microsoft.com/office/drawing/2014/main" id="{DE64DE20-48F6-60A4-630D-20A08544C1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04666" y="4186239"/>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2054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EB0242-1D09-500A-3C58-EC39679A6DD7}"/>
              </a:ext>
            </a:extLst>
          </p:cNvPr>
          <p:cNvSpPr txBox="1"/>
          <p:nvPr/>
        </p:nvSpPr>
        <p:spPr>
          <a:xfrm>
            <a:off x="1698171" y="1238853"/>
            <a:ext cx="7199085" cy="4154984"/>
          </a:xfrm>
          <a:prstGeom prst="rect">
            <a:avLst/>
          </a:prstGeom>
          <a:noFill/>
        </p:spPr>
        <p:txBody>
          <a:bodyPr wrap="square">
            <a:spAutoFit/>
          </a:bodyPr>
          <a:lstStyle/>
          <a:p>
            <a:r>
              <a:rPr lang="en-US" sz="2400" b="1" dirty="0">
                <a:solidFill>
                  <a:schemeClr val="accent6">
                    <a:lumMod val="75000"/>
                  </a:schemeClr>
                </a:solidFill>
                <a:latin typeface="Times New Roman" panose="02020603050405020304" pitchFamily="18" charset="0"/>
                <a:cs typeface="Times New Roman" panose="02020603050405020304" pitchFamily="18" charset="0"/>
              </a:rPr>
              <a:t>REAL TIME APPLICATIONS:</a:t>
            </a:r>
          </a:p>
          <a:p>
            <a:pPr lvl="1" algn="r"/>
            <a:endParaRPr lang="en-US" sz="2000" b="1"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000" b="1" dirty="0" err="1">
                <a:latin typeface="Times New Roman" panose="02020603050405020304" pitchFamily="18" charset="0"/>
                <a:cs typeface="Times New Roman" panose="02020603050405020304" pitchFamily="18" charset="0"/>
              </a:rPr>
              <a:t>GLeak</a:t>
            </a:r>
            <a:r>
              <a:rPr lang="en-US" sz="2000" b="1" dirty="0">
                <a:latin typeface="Times New Roman" panose="02020603050405020304" pitchFamily="18" charset="0"/>
                <a:cs typeface="Times New Roman" panose="02020603050405020304" pitchFamily="18" charset="0"/>
              </a:rPr>
              <a:t> Alerts:</a:t>
            </a:r>
            <a:r>
              <a:rPr lang="en-US" sz="2000" dirty="0">
                <a:latin typeface="Times New Roman" panose="02020603050405020304" pitchFamily="18" charset="0"/>
                <a:cs typeface="Times New Roman" panose="02020603050405020304" pitchFamily="18" charset="0"/>
              </a:rPr>
              <a:t> Real-time warnings for toxic smoke and chemical leaks.</a:t>
            </a:r>
          </a:p>
          <a:p>
            <a:pPr lvl="1">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Structure Safety:</a:t>
            </a:r>
            <a:r>
              <a:rPr lang="en-US" sz="2000" dirty="0">
                <a:latin typeface="Times New Roman" panose="02020603050405020304" pitchFamily="18" charset="0"/>
                <a:cs typeface="Times New Roman" panose="02020603050405020304" pitchFamily="18" charset="0"/>
              </a:rPr>
              <a:t> Detects building instability to prevent rescuer injury.</a:t>
            </a:r>
          </a:p>
          <a:p>
            <a:pPr lvl="1">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Zero-Visibility Nav:</a:t>
            </a:r>
            <a:r>
              <a:rPr lang="en-US" sz="2000" dirty="0">
                <a:latin typeface="Times New Roman" panose="02020603050405020304" pitchFamily="18" charset="0"/>
                <a:cs typeface="Times New Roman" panose="02020603050405020304" pitchFamily="18" charset="0"/>
              </a:rPr>
              <a:t> Maps safe paths through thick smoke or darkness.</a:t>
            </a:r>
          </a:p>
          <a:p>
            <a:pPr lvl="1">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Remote Triage:</a:t>
            </a:r>
            <a:r>
              <a:rPr lang="en-US" sz="2000" dirty="0">
                <a:latin typeface="Times New Roman" panose="02020603050405020304" pitchFamily="18" charset="0"/>
                <a:cs typeface="Times New Roman" panose="02020603050405020304" pitchFamily="18" charset="0"/>
              </a:rPr>
              <a:t> Sends GPS locations and site vitals to medical teams.</a:t>
            </a:r>
          </a:p>
          <a:p>
            <a:pPr lvl="1">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Survivor Detection:</a:t>
            </a:r>
            <a:r>
              <a:rPr lang="en-US" sz="2000" dirty="0">
                <a:latin typeface="Times New Roman" panose="02020603050405020304" pitchFamily="18" charset="0"/>
                <a:cs typeface="Times New Roman" panose="02020603050405020304" pitchFamily="18" charset="0"/>
              </a:rPr>
              <a:t> Finds trapped humans using heat and motion sensors.</a:t>
            </a:r>
          </a:p>
          <a:p>
            <a:pPr>
              <a:buNone/>
            </a:pPr>
            <a:r>
              <a:rPr lang="en-US" sz="2000" b="1"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3475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BD0B60-4EB9-DF6A-D85C-AB3481F5F748}"/>
              </a:ext>
            </a:extLst>
          </p:cNvPr>
          <p:cNvSpPr txBox="1"/>
          <p:nvPr/>
        </p:nvSpPr>
        <p:spPr>
          <a:xfrm>
            <a:off x="1582057" y="1130609"/>
            <a:ext cx="6096000" cy="4308872"/>
          </a:xfrm>
          <a:prstGeom prst="rect">
            <a:avLst/>
          </a:prstGeom>
          <a:noFill/>
        </p:spPr>
        <p:txBody>
          <a:bodyPr wrap="square">
            <a:spAutoFit/>
          </a:bodyPr>
          <a:lstStyle/>
          <a:p>
            <a:pPr>
              <a:buNone/>
            </a:pPr>
            <a:r>
              <a:rPr lang="en-US" sz="2400" b="1" dirty="0">
                <a:solidFill>
                  <a:schemeClr val="accent6">
                    <a:lumMod val="75000"/>
                  </a:schemeClr>
                </a:solidFill>
                <a:latin typeface="Times New Roman" panose="02020603050405020304" pitchFamily="18" charset="0"/>
                <a:cs typeface="Times New Roman" panose="02020603050405020304" pitchFamily="18" charset="0"/>
              </a:rPr>
              <a:t>CONCLUTION:</a:t>
            </a:r>
          </a:p>
          <a:p>
            <a:pPr>
              <a:buNone/>
            </a:pPr>
            <a:endParaRPr lang="en-US" sz="2400" b="1"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Minimizes Risk:</a:t>
            </a:r>
            <a:r>
              <a:rPr lang="en-US" sz="2000" dirty="0">
                <a:latin typeface="Times New Roman" panose="02020603050405020304" pitchFamily="18" charset="0"/>
                <a:cs typeface="Times New Roman" panose="02020603050405020304" pitchFamily="18" charset="0"/>
              </a:rPr>
              <a:t> Prevents rescuer injury by detecting invisible gas and structural threats.</a:t>
            </a:r>
          </a:p>
          <a:p>
            <a:pPr lvl="1">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Saves Time:</a:t>
            </a:r>
            <a:r>
              <a:rPr lang="en-US" sz="2000" dirty="0">
                <a:latin typeface="Times New Roman" panose="02020603050405020304" pitchFamily="18" charset="0"/>
                <a:cs typeface="Times New Roman" panose="02020603050405020304" pitchFamily="18" charset="0"/>
              </a:rPr>
              <a:t> Pinpoints survivors instantly, skipping the "search" and starting the "rescue."</a:t>
            </a:r>
          </a:p>
          <a:p>
            <a:pPr lvl="1">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Low Cost:</a:t>
            </a:r>
            <a:r>
              <a:rPr lang="en-US" sz="2000" dirty="0">
                <a:latin typeface="Times New Roman" panose="02020603050405020304" pitchFamily="18" charset="0"/>
                <a:cs typeface="Times New Roman" panose="02020603050405020304" pitchFamily="18" charset="0"/>
              </a:rPr>
              <a:t> High-tech tactical monitoring built with affordable, rugged IoT sensors.</a:t>
            </a:r>
          </a:p>
          <a:p>
            <a:pPr lvl="1">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Actionable Data:</a:t>
            </a:r>
            <a:r>
              <a:rPr lang="en-US" sz="2000" dirty="0">
                <a:latin typeface="Times New Roman" panose="02020603050405020304" pitchFamily="18" charset="0"/>
                <a:cs typeface="Times New Roman" panose="02020603050405020304" pitchFamily="18" charset="0"/>
              </a:rPr>
              <a:t> Turns a chaotic disaster site into a clear, live map for the team.</a:t>
            </a:r>
          </a:p>
          <a:p>
            <a:pPr lvl="1"/>
            <a:endParaRPr lang="en-US" b="1" dirty="0">
              <a:latin typeface="Times New Roman" panose="02020603050405020304" pitchFamily="18" charset="0"/>
              <a:cs typeface="Times New Roman" panose="02020603050405020304" pitchFamily="18" charset="0"/>
            </a:endParaRPr>
          </a:p>
          <a:p>
            <a:pPr lvl="1"/>
            <a:r>
              <a:rPr lang="en-US" sz="2400" b="1" dirty="0">
                <a:solidFill>
                  <a:srgbClr val="C00000"/>
                </a:solidFill>
                <a:latin typeface="Times New Roman" panose="02020603050405020304" pitchFamily="18" charset="0"/>
                <a:cs typeface="Times New Roman" panose="02020603050405020304" pitchFamily="18" charset="0"/>
              </a:rPr>
              <a:t>"Smarter sensors. Faster rescue. Saved lives."</a:t>
            </a:r>
          </a:p>
        </p:txBody>
      </p:sp>
    </p:spTree>
    <p:extLst>
      <p:ext uri="{BB962C8B-B14F-4D97-AF65-F5344CB8AC3E}">
        <p14:creationId xmlns:p14="http://schemas.microsoft.com/office/powerpoint/2010/main" val="28400175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114</TotalTime>
  <Words>563</Words>
  <Application>Microsoft Office PowerPoint</Application>
  <PresentationFormat>Widescreen</PresentationFormat>
  <Paragraphs>56</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Times New Roman</vt:lpstr>
      <vt:lpstr>Office Theme</vt:lpstr>
      <vt:lpstr>Title: TACTICAL RESCUE ANALYSIS SYSTEM USING IOT</vt:lpstr>
      <vt:lpstr>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femina francis</dc:creator>
  <cp:lastModifiedBy>femina francis</cp:lastModifiedBy>
  <cp:revision>2</cp:revision>
  <dcterms:created xsi:type="dcterms:W3CDTF">2026-02-26T16:56:41Z</dcterms:created>
  <dcterms:modified xsi:type="dcterms:W3CDTF">2026-02-26T19:11:03Z</dcterms:modified>
</cp:coreProperties>
</file>